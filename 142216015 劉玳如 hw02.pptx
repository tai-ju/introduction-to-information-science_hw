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handoutMasterIdLst>
    <p:handoutMasterId r:id="rId9"/>
  </p:handoutMasterIdLst>
  <p:sldIdLst>
    <p:sldId id="256" r:id="rId2"/>
    <p:sldId id="257" r:id="rId3"/>
    <p:sldId id="258" r:id="rId4"/>
    <p:sldId id="259" r:id="rId5"/>
    <p:sldId id="260" r:id="rId6"/>
    <p:sldId id="261" r:id="rId7"/>
  </p:sldIdLst>
  <p:sldSz cx="14630400" cy="8229600"/>
  <p:notesSz cx="8229600" cy="146304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9CD4C8-DAFB-4FA8-9C0E-400BF02941C6}" v="1" dt="2025-10-19T15:33:43.8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6" d="100"/>
          <a:sy n="46" d="100"/>
        </p:scale>
        <p:origin x="1068" y="264"/>
      </p:cViewPr>
      <p:guideLst/>
    </p:cSldViewPr>
  </p:slideViewPr>
  <p:notesTextViewPr>
    <p:cViewPr>
      <p:scale>
        <a:sx n="1" d="1"/>
        <a:sy n="1" d="1"/>
      </p:scale>
      <p:origin x="0" y="0"/>
    </p:cViewPr>
  </p:notesTextViewPr>
  <p:notesViewPr>
    <p:cSldViewPr snapToGrid="0" snapToObjects="1">
      <p:cViewPr varScale="1">
        <p:scale>
          <a:sx n="30" d="100"/>
          <a:sy n="30" d="100"/>
        </p:scale>
        <p:origin x="3016" y="4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玳如 劉" userId="57117983bbab1dfe" providerId="LiveId" clId="{88C8B942-2A23-4B58-AE9A-40DBB63FF690}"/>
    <pc:docChg chg="modSld">
      <pc:chgData name="玳如 劉" userId="57117983bbab1dfe" providerId="LiveId" clId="{88C8B942-2A23-4B58-AE9A-40DBB63FF690}" dt="2025-10-20T01:36:35.228" v="0" actId="255"/>
      <pc:docMkLst>
        <pc:docMk/>
      </pc:docMkLst>
      <pc:sldChg chg="modSp mod">
        <pc:chgData name="玳如 劉" userId="57117983bbab1dfe" providerId="LiveId" clId="{88C8B942-2A23-4B58-AE9A-40DBB63FF690}" dt="2025-10-20T01:36:35.228" v="0" actId="255"/>
        <pc:sldMkLst>
          <pc:docMk/>
          <pc:sldMk cId="0" sldId="256"/>
        </pc:sldMkLst>
        <pc:spChg chg="mod">
          <ac:chgData name="玳如 劉" userId="57117983bbab1dfe" providerId="LiveId" clId="{88C8B942-2A23-4B58-AE9A-40DBB63FF690}" dt="2025-10-20T01:36:35.228" v="0" actId="255"/>
          <ac:spMkLst>
            <pc:docMk/>
            <pc:sldMk cId="0" sldId="25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4B3EF1A-C462-AC0D-3AA5-8D3617116753}"/>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EAB84DB9-3149-B847-1200-66EB54986728}"/>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2C055B91-BAD6-41B0-A16C-6960FD87A02F}" type="datetimeFigureOut">
              <a:rPr lang="zh-TW" altLang="en-US" smtClean="0"/>
              <a:t>2025/10/20</a:t>
            </a:fld>
            <a:endParaRPr lang="zh-TW" altLang="en-US"/>
          </a:p>
        </p:txBody>
      </p:sp>
      <p:sp>
        <p:nvSpPr>
          <p:cNvPr id="4" name="頁尾版面配置區 3">
            <a:extLst>
              <a:ext uri="{FF2B5EF4-FFF2-40B4-BE49-F238E27FC236}">
                <a16:creationId xmlns:a16="http://schemas.microsoft.com/office/drawing/2014/main" id="{4CA22641-7867-CEEF-1426-1650665194C5}"/>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1CE65F04-26D0-A399-168D-6E071164BD25}"/>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4E8A1525-6D64-4A29-ADEB-3C1105DF8607}" type="slidenum">
              <a:rPr lang="zh-TW" altLang="en-US" smtClean="0"/>
              <a:t>‹#›</a:t>
            </a:fld>
            <a:endParaRPr lang="zh-TW" altLang="en-US"/>
          </a:p>
        </p:txBody>
      </p:sp>
    </p:spTree>
    <p:extLst>
      <p:ext uri="{BB962C8B-B14F-4D97-AF65-F5344CB8AC3E}">
        <p14:creationId xmlns:p14="http://schemas.microsoft.com/office/powerpoint/2010/main" val="155033697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975947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txBody>
          <a:bodyPr/>
          <a:lstStyle/>
          <a:p>
            <a:endParaRPr lang="zh-TW" altLang="en-US"/>
          </a:p>
        </p:txBody>
      </p:sp>
      <p:sp>
        <p:nvSpPr>
          <p:cNvPr id="3" name="Shape 1"/>
          <p:cNvSpPr/>
          <p:nvPr/>
        </p:nvSpPr>
        <p:spPr>
          <a:xfrm>
            <a:off x="0" y="0"/>
            <a:ext cx="14630400" cy="8229600"/>
          </a:xfrm>
          <a:prstGeom prst="rect">
            <a:avLst/>
          </a:prstGeom>
          <a:solidFill>
            <a:srgbClr val="FBFAFF"/>
          </a:solidFill>
          <a:ln/>
        </p:spPr>
        <p:txBody>
          <a:bodyPr/>
          <a:lstStyle/>
          <a:p>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760351"/>
            <a:ext cx="6803708" cy="708779"/>
          </a:xfrm>
          <a:prstGeom prst="rect">
            <a:avLst/>
          </a:prstGeom>
          <a:noFill/>
          <a:ln/>
        </p:spPr>
        <p:txBody>
          <a:bodyPr wrap="none" lIns="0" tIns="0" rIns="0" bIns="0" rtlCol="0" anchor="t"/>
          <a:lstStyle/>
          <a:p>
            <a:pPr marL="0" indent="0" algn="l">
              <a:lnSpc>
                <a:spcPts val="5550"/>
              </a:lnSpc>
              <a:buNone/>
            </a:pPr>
            <a:r>
              <a:rPr lang="en-US" sz="4450" dirty="0" err="1">
                <a:solidFill>
                  <a:srgbClr val="403CCF"/>
                </a:solidFill>
                <a:latin typeface="+mj-ea"/>
                <a:ea typeface="+mj-ea"/>
                <a:cs typeface="Libre Baskerville" pitchFamily="34" charset="-120"/>
              </a:rPr>
              <a:t>銷售數據關鍵因素分析簡報</a:t>
            </a:r>
            <a:endParaRPr lang="en-US" sz="4450" dirty="0">
              <a:solidFill>
                <a:srgbClr val="403CCF"/>
              </a:solidFill>
              <a:latin typeface="+mj-ea"/>
              <a:ea typeface="+mj-ea"/>
              <a:cs typeface="Libre Baskerville" pitchFamily="34" charset="-120"/>
            </a:endParaRPr>
          </a:p>
          <a:p>
            <a:pPr marL="0" indent="0" algn="l">
              <a:lnSpc>
                <a:spcPts val="5550"/>
              </a:lnSpc>
              <a:buNone/>
            </a:pPr>
            <a:r>
              <a:rPr lang="en-US" sz="3200" dirty="0">
                <a:solidFill>
                  <a:srgbClr val="403CCF"/>
                </a:solidFill>
                <a:latin typeface="+mj-ea"/>
                <a:ea typeface="+mj-ea"/>
              </a:rPr>
              <a:t>142216015 </a:t>
            </a:r>
            <a:r>
              <a:rPr lang="zh-TW" altLang="en-US" sz="3200" dirty="0">
                <a:solidFill>
                  <a:srgbClr val="403CCF"/>
                </a:solidFill>
                <a:latin typeface="+mj-ea"/>
                <a:ea typeface="+mj-ea"/>
              </a:rPr>
              <a:t>劉玳如</a:t>
            </a:r>
            <a:endParaRPr lang="en-US" sz="3200" dirty="0">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3790" y="89315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mj-ea"/>
                <a:ea typeface="+mj-ea"/>
                <a:cs typeface="Libre Baskerville" pitchFamily="34" charset="-120"/>
              </a:rPr>
              <a:t>總體銷售表現與分佈</a:t>
            </a:r>
            <a:endParaRPr lang="en-US" sz="4450" dirty="0">
              <a:latin typeface="+mj-ea"/>
              <a:ea typeface="+mj-ea"/>
            </a:endParaRPr>
          </a:p>
        </p:txBody>
      </p:sp>
      <p:sp>
        <p:nvSpPr>
          <p:cNvPr id="4" name="Text 1"/>
          <p:cNvSpPr/>
          <p:nvPr/>
        </p:nvSpPr>
        <p:spPr>
          <a:xfrm>
            <a:off x="793790" y="1720370"/>
            <a:ext cx="6394133" cy="566976"/>
          </a:xfrm>
          <a:prstGeom prst="rect">
            <a:avLst/>
          </a:prstGeom>
          <a:noFill/>
          <a:ln/>
        </p:spPr>
        <p:txBody>
          <a:bodyPr wrap="none" lIns="0" tIns="0" rIns="0" bIns="0" rtlCol="0" anchor="t"/>
          <a:lstStyle/>
          <a:p>
            <a:pPr marL="0" indent="0" algn="l">
              <a:lnSpc>
                <a:spcPts val="4450"/>
              </a:lnSpc>
              <a:buNone/>
            </a:pPr>
            <a:r>
              <a:rPr lang="en-US" sz="3550" dirty="0">
                <a:solidFill>
                  <a:srgbClr val="403CCF"/>
                </a:solidFill>
                <a:latin typeface="+mj-ea"/>
                <a:ea typeface="+mj-ea"/>
                <a:cs typeface="Libre Baskerville" pitchFamily="34" charset="-120"/>
              </a:rPr>
              <a:t>視覺焦點：Sales Distribution</a:t>
            </a:r>
            <a:endParaRPr lang="en-US" sz="3550" dirty="0">
              <a:latin typeface="+mj-ea"/>
              <a:ea typeface="+mj-ea"/>
            </a:endParaRPr>
          </a:p>
        </p:txBody>
      </p:sp>
      <p:sp>
        <p:nvSpPr>
          <p:cNvPr id="5" name="Shape 2"/>
          <p:cNvSpPr/>
          <p:nvPr/>
        </p:nvSpPr>
        <p:spPr>
          <a:xfrm>
            <a:off x="793790" y="2766057"/>
            <a:ext cx="6407944" cy="1669852"/>
          </a:xfrm>
          <a:prstGeom prst="roundRect">
            <a:avLst>
              <a:gd name="adj" fmla="val 2038"/>
            </a:avLst>
          </a:prstGeom>
          <a:solidFill>
            <a:srgbClr val="EAE8F3"/>
          </a:solidFill>
          <a:ln/>
        </p:spPr>
        <p:txBody>
          <a:bodyPr/>
          <a:lstStyle/>
          <a:p>
            <a:endParaRPr lang="zh-TW" altLang="en-US">
              <a:latin typeface="+mj-ea"/>
              <a:ea typeface="+mj-ea"/>
            </a:endParaRPr>
          </a:p>
        </p:txBody>
      </p:sp>
      <p:sp>
        <p:nvSpPr>
          <p:cNvPr id="6" name="Text 3"/>
          <p:cNvSpPr/>
          <p:nvPr/>
        </p:nvSpPr>
        <p:spPr>
          <a:xfrm>
            <a:off x="1020604" y="29928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mj-ea"/>
                <a:ea typeface="+mj-ea"/>
                <a:cs typeface="Libre Baskerville" pitchFamily="34" charset="-120"/>
              </a:rPr>
              <a:t>整體分佈</a:t>
            </a:r>
            <a:endParaRPr lang="en-US" sz="2200" dirty="0">
              <a:latin typeface="+mj-ea"/>
              <a:ea typeface="+mj-ea"/>
            </a:endParaRPr>
          </a:p>
        </p:txBody>
      </p:sp>
      <p:sp>
        <p:nvSpPr>
          <p:cNvPr id="7" name="Text 4"/>
          <p:cNvSpPr/>
          <p:nvPr/>
        </p:nvSpPr>
        <p:spPr>
          <a:xfrm>
            <a:off x="1020604" y="3483289"/>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mj-ea"/>
                <a:ea typeface="+mj-ea"/>
                <a:cs typeface="Open Sans" pitchFamily="34" charset="-120"/>
              </a:rPr>
              <a:t>銷售額（Sales）的分佈大致呈現對稱的鐘形曲線，即大多數銷售數據集中在中間範圍。</a:t>
            </a:r>
            <a:endParaRPr lang="en-US" sz="1750" dirty="0">
              <a:latin typeface="+mj-ea"/>
              <a:ea typeface="+mj-ea"/>
            </a:endParaRPr>
          </a:p>
        </p:txBody>
      </p:sp>
      <p:sp>
        <p:nvSpPr>
          <p:cNvPr id="8" name="Shape 5"/>
          <p:cNvSpPr/>
          <p:nvPr/>
        </p:nvSpPr>
        <p:spPr>
          <a:xfrm>
            <a:off x="847653" y="5176742"/>
            <a:ext cx="6408063" cy="1669852"/>
          </a:xfrm>
          <a:prstGeom prst="roundRect">
            <a:avLst>
              <a:gd name="adj" fmla="val 2038"/>
            </a:avLst>
          </a:prstGeom>
          <a:solidFill>
            <a:srgbClr val="EAE8F3"/>
          </a:solidFill>
          <a:ln/>
        </p:spPr>
        <p:txBody>
          <a:bodyPr/>
          <a:lstStyle/>
          <a:p>
            <a:endParaRPr lang="zh-TW" altLang="en-US">
              <a:latin typeface="+mj-ea"/>
              <a:ea typeface="+mj-ea"/>
            </a:endParaRPr>
          </a:p>
        </p:txBody>
      </p:sp>
      <p:sp>
        <p:nvSpPr>
          <p:cNvPr id="9" name="Text 6"/>
          <p:cNvSpPr/>
          <p:nvPr/>
        </p:nvSpPr>
        <p:spPr>
          <a:xfrm>
            <a:off x="1074467" y="54035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mj-ea"/>
                <a:ea typeface="+mj-ea"/>
                <a:cs typeface="Libre Baskerville" pitchFamily="34" charset="-120"/>
              </a:rPr>
              <a:t>範圍廣泛</a:t>
            </a:r>
            <a:endParaRPr lang="en-US" sz="2200" dirty="0">
              <a:latin typeface="+mj-ea"/>
              <a:ea typeface="+mj-ea"/>
            </a:endParaRPr>
          </a:p>
        </p:txBody>
      </p:sp>
      <p:sp>
        <p:nvSpPr>
          <p:cNvPr id="10" name="Text 7"/>
          <p:cNvSpPr/>
          <p:nvPr/>
        </p:nvSpPr>
        <p:spPr>
          <a:xfrm>
            <a:off x="1074467" y="5893974"/>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mj-ea"/>
                <a:ea typeface="+mj-ea"/>
                <a:cs typeface="Open Sans" pitchFamily="34" charset="-120"/>
              </a:rPr>
              <a:t>銷售數據跨度極大，從最低的 0 左右 到最高的 16 以上 ，顯示績效差異懸殊。</a:t>
            </a:r>
            <a:endParaRPr lang="en-US" sz="1750" dirty="0">
              <a:latin typeface="+mj-ea"/>
              <a:ea typeface="+mj-ea"/>
            </a:endParaRPr>
          </a:p>
        </p:txBody>
      </p:sp>
      <p:pic>
        <p:nvPicPr>
          <p:cNvPr id="14" name="圖片 13">
            <a:extLst>
              <a:ext uri="{FF2B5EF4-FFF2-40B4-BE49-F238E27FC236}">
                <a16:creationId xmlns:a16="http://schemas.microsoft.com/office/drawing/2014/main" id="{6C8A8C90-3EA9-AD99-F5BF-D8A59EE5B8A2}"/>
              </a:ext>
            </a:extLst>
          </p:cNvPr>
          <p:cNvPicPr>
            <a:picLocks noChangeAspect="1"/>
          </p:cNvPicPr>
          <p:nvPr/>
        </p:nvPicPr>
        <p:blipFill>
          <a:blip r:embed="rId3"/>
          <a:stretch>
            <a:fillRect/>
          </a:stretch>
        </p:blipFill>
        <p:spPr>
          <a:xfrm>
            <a:off x="7623613" y="1345782"/>
            <a:ext cx="6731837" cy="5726624"/>
          </a:xfrm>
          <a:prstGeom prst="rect">
            <a:avLst/>
          </a:prstGeom>
        </p:spPr>
      </p:pic>
      <p:sp>
        <p:nvSpPr>
          <p:cNvPr id="2" name="文字方塊 1">
            <a:extLst>
              <a:ext uri="{FF2B5EF4-FFF2-40B4-BE49-F238E27FC236}">
                <a16:creationId xmlns:a16="http://schemas.microsoft.com/office/drawing/2014/main" id="{628D4306-FFFC-F31B-3A64-0CC9095D1C77}"/>
              </a:ext>
            </a:extLst>
          </p:cNvPr>
          <p:cNvSpPr txBox="1"/>
          <p:nvPr/>
        </p:nvSpPr>
        <p:spPr>
          <a:xfrm>
            <a:off x="13397345" y="7675418"/>
            <a:ext cx="958105" cy="369332"/>
          </a:xfrm>
          <a:prstGeom prst="rect">
            <a:avLst/>
          </a:prstGeom>
          <a:noFill/>
        </p:spPr>
        <p:txBody>
          <a:bodyPr wrap="square" rtlCol="0">
            <a:spAutoFit/>
          </a:bodyPr>
          <a:lstStyle/>
          <a:p>
            <a:r>
              <a:rPr lang="en-US" altLang="zh-TW" dirty="0"/>
              <a:t>1</a:t>
            </a:r>
            <a:endParaRPr lang="zh-TW"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47474" y="352338"/>
            <a:ext cx="6406515" cy="667464"/>
          </a:xfrm>
          <a:prstGeom prst="rect">
            <a:avLst/>
          </a:prstGeom>
          <a:noFill/>
          <a:ln/>
        </p:spPr>
        <p:txBody>
          <a:bodyPr wrap="none" lIns="0" tIns="0" rIns="0" bIns="0" rtlCol="0" anchor="t"/>
          <a:lstStyle/>
          <a:p>
            <a:pPr marL="0" indent="0" algn="l">
              <a:lnSpc>
                <a:spcPts val="5250"/>
              </a:lnSpc>
              <a:buNone/>
            </a:pPr>
            <a:r>
              <a:rPr lang="en-US" sz="4200" dirty="0">
                <a:solidFill>
                  <a:srgbClr val="403CCF"/>
                </a:solidFill>
                <a:latin typeface="+mj-ea"/>
                <a:ea typeface="+mj-ea"/>
                <a:cs typeface="Libre Baskerville" pitchFamily="34" charset="-120"/>
              </a:rPr>
              <a:t>價格衝擊：最強的負向關係</a:t>
            </a:r>
            <a:endParaRPr lang="en-US" sz="4200" dirty="0">
              <a:latin typeface="+mj-ea"/>
              <a:ea typeface="+mj-ea"/>
            </a:endParaRPr>
          </a:p>
        </p:txBody>
      </p:sp>
      <p:sp>
        <p:nvSpPr>
          <p:cNvPr id="4" name="Text 1"/>
          <p:cNvSpPr/>
          <p:nvPr/>
        </p:nvSpPr>
        <p:spPr>
          <a:xfrm>
            <a:off x="747474" y="1105170"/>
            <a:ext cx="13135451" cy="746923"/>
          </a:xfrm>
          <a:prstGeom prst="rect">
            <a:avLst/>
          </a:prstGeom>
          <a:noFill/>
          <a:ln/>
        </p:spPr>
        <p:txBody>
          <a:bodyPr wrap="square" lIns="0" tIns="0" rIns="0" bIns="0" rtlCol="0" anchor="t"/>
          <a:lstStyle/>
          <a:p>
            <a:pPr marL="0" indent="0" algn="l">
              <a:lnSpc>
                <a:spcPts val="4200"/>
              </a:lnSpc>
              <a:buNone/>
            </a:pPr>
            <a:r>
              <a:rPr lang="en-US" sz="3350" dirty="0">
                <a:solidFill>
                  <a:srgbClr val="403CCF"/>
                </a:solidFill>
                <a:latin typeface="+mj-ea"/>
                <a:ea typeface="+mj-ea"/>
                <a:cs typeface="Libre Baskerville" pitchFamily="34" charset="-120"/>
              </a:rPr>
              <a:t>視覺焦點：Price vs Sales 及 Average Sales by Price Range </a:t>
            </a:r>
            <a:endParaRPr lang="en-US" sz="3350" dirty="0">
              <a:latin typeface="+mj-ea"/>
              <a:ea typeface="+mj-ea"/>
            </a:endParaRPr>
          </a:p>
        </p:txBody>
      </p:sp>
      <p:sp>
        <p:nvSpPr>
          <p:cNvPr id="5" name="Shape 2"/>
          <p:cNvSpPr/>
          <p:nvPr/>
        </p:nvSpPr>
        <p:spPr>
          <a:xfrm>
            <a:off x="747474" y="1786849"/>
            <a:ext cx="480536" cy="480536"/>
          </a:xfrm>
          <a:prstGeom prst="roundRect">
            <a:avLst>
              <a:gd name="adj" fmla="val 6667"/>
            </a:avLst>
          </a:prstGeom>
          <a:solidFill>
            <a:srgbClr val="EAE8F3"/>
          </a:solidFill>
          <a:ln/>
        </p:spPr>
        <p:txBody>
          <a:bodyPr/>
          <a:lstStyle/>
          <a:p>
            <a:endParaRPr lang="zh-TW" altLang="en-US">
              <a:latin typeface="+mj-ea"/>
              <a:ea typeface="+mj-ea"/>
            </a:endParaRPr>
          </a:p>
        </p:txBody>
      </p:sp>
      <p:sp>
        <p:nvSpPr>
          <p:cNvPr id="6" name="Text 3"/>
          <p:cNvSpPr/>
          <p:nvPr/>
        </p:nvSpPr>
        <p:spPr>
          <a:xfrm>
            <a:off x="1441490" y="1860192"/>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mj-ea"/>
                <a:ea typeface="+mj-ea"/>
                <a:cs typeface="Libre Baskerville" pitchFamily="34" charset="-120"/>
              </a:rPr>
              <a:t>定價敏感度高</a:t>
            </a:r>
            <a:endParaRPr lang="en-US" sz="2100" dirty="0">
              <a:latin typeface="+mj-ea"/>
              <a:ea typeface="+mj-ea"/>
            </a:endParaRPr>
          </a:p>
        </p:txBody>
      </p:sp>
      <p:sp>
        <p:nvSpPr>
          <p:cNvPr id="7" name="Text 4"/>
          <p:cNvSpPr/>
          <p:nvPr/>
        </p:nvSpPr>
        <p:spPr>
          <a:xfrm>
            <a:off x="1441490" y="2321916"/>
            <a:ext cx="3506510" cy="1366838"/>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mj-ea"/>
                <a:ea typeface="+mj-ea"/>
                <a:cs typeface="Open Sans" pitchFamily="34" charset="-120"/>
              </a:rPr>
              <a:t>銷售額與價格（Price）之間存在顯著的中度負相關（相關係數 ≈−0.44）。從散點圖上可清楚觀察到，價格越高，銷售點越傾向於低銷售區間。</a:t>
            </a:r>
            <a:endParaRPr lang="en-US" sz="1650" dirty="0">
              <a:latin typeface="+mj-ea"/>
              <a:ea typeface="+mj-ea"/>
            </a:endParaRPr>
          </a:p>
        </p:txBody>
      </p:sp>
      <p:sp>
        <p:nvSpPr>
          <p:cNvPr id="8" name="Shape 5"/>
          <p:cNvSpPr/>
          <p:nvPr/>
        </p:nvSpPr>
        <p:spPr>
          <a:xfrm>
            <a:off x="5214938" y="1786849"/>
            <a:ext cx="480536" cy="480536"/>
          </a:xfrm>
          <a:prstGeom prst="roundRect">
            <a:avLst>
              <a:gd name="adj" fmla="val 6667"/>
            </a:avLst>
          </a:prstGeom>
          <a:solidFill>
            <a:srgbClr val="EAE8F3"/>
          </a:solidFill>
          <a:ln/>
        </p:spPr>
        <p:txBody>
          <a:bodyPr/>
          <a:lstStyle/>
          <a:p>
            <a:endParaRPr lang="zh-TW" altLang="en-US">
              <a:latin typeface="+mj-ea"/>
              <a:ea typeface="+mj-ea"/>
            </a:endParaRPr>
          </a:p>
        </p:txBody>
      </p:sp>
      <p:sp>
        <p:nvSpPr>
          <p:cNvPr id="9" name="Text 6"/>
          <p:cNvSpPr/>
          <p:nvPr/>
        </p:nvSpPr>
        <p:spPr>
          <a:xfrm>
            <a:off x="5908953" y="1860192"/>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mj-ea"/>
                <a:ea typeface="+mj-ea"/>
                <a:cs typeface="Libre Baskerville" pitchFamily="34" charset="-120"/>
              </a:rPr>
              <a:t>低價策略效益最佳</a:t>
            </a:r>
            <a:endParaRPr lang="en-US" sz="2100" dirty="0">
              <a:latin typeface="+mj-ea"/>
              <a:ea typeface="+mj-ea"/>
            </a:endParaRPr>
          </a:p>
        </p:txBody>
      </p:sp>
      <p:sp>
        <p:nvSpPr>
          <p:cNvPr id="10" name="Text 7"/>
          <p:cNvSpPr/>
          <p:nvPr/>
        </p:nvSpPr>
        <p:spPr>
          <a:xfrm>
            <a:off x="5908953" y="2321916"/>
            <a:ext cx="3506510" cy="1366838"/>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mj-ea"/>
                <a:ea typeface="+mj-ea"/>
                <a:cs typeface="Open Sans" pitchFamily="34" charset="-120"/>
              </a:rPr>
              <a:t>「Average Sales by Price Range」長條圖證實，價格處於「Low」（低）區間時，平均銷售額最高，接近</a:t>
            </a:r>
            <a:r>
              <a:rPr lang="en-US" sz="1650" dirty="0">
                <a:solidFill>
                  <a:srgbClr val="403CCF"/>
                </a:solidFill>
                <a:latin typeface="+mj-ea"/>
                <a:ea typeface="+mj-ea"/>
                <a:cs typeface="Open Sans" pitchFamily="34" charset="-120"/>
              </a:rPr>
              <a:t>10個單位</a:t>
            </a:r>
            <a:r>
              <a:rPr lang="en-US" sz="1650" dirty="0">
                <a:solidFill>
                  <a:srgbClr val="49495A"/>
                </a:solidFill>
                <a:latin typeface="+mj-ea"/>
                <a:ea typeface="+mj-ea"/>
                <a:cs typeface="Open Sans" pitchFamily="34" charset="-120"/>
              </a:rPr>
              <a:t>。</a:t>
            </a:r>
            <a:endParaRPr lang="en-US" sz="1650" dirty="0">
              <a:latin typeface="+mj-ea"/>
              <a:ea typeface="+mj-ea"/>
            </a:endParaRPr>
          </a:p>
        </p:txBody>
      </p:sp>
      <p:sp>
        <p:nvSpPr>
          <p:cNvPr id="11" name="Shape 8"/>
          <p:cNvSpPr/>
          <p:nvPr/>
        </p:nvSpPr>
        <p:spPr>
          <a:xfrm>
            <a:off x="9682401" y="1786849"/>
            <a:ext cx="480536" cy="480536"/>
          </a:xfrm>
          <a:prstGeom prst="roundRect">
            <a:avLst>
              <a:gd name="adj" fmla="val 6667"/>
            </a:avLst>
          </a:prstGeom>
          <a:solidFill>
            <a:srgbClr val="EAE8F3"/>
          </a:solidFill>
          <a:ln/>
        </p:spPr>
        <p:txBody>
          <a:bodyPr/>
          <a:lstStyle/>
          <a:p>
            <a:endParaRPr lang="zh-TW" altLang="en-US">
              <a:latin typeface="+mj-ea"/>
              <a:ea typeface="+mj-ea"/>
            </a:endParaRPr>
          </a:p>
        </p:txBody>
      </p:sp>
      <p:sp>
        <p:nvSpPr>
          <p:cNvPr id="12" name="Text 9"/>
          <p:cNvSpPr/>
          <p:nvPr/>
        </p:nvSpPr>
        <p:spPr>
          <a:xfrm>
            <a:off x="10376416" y="1860192"/>
            <a:ext cx="2669619" cy="333613"/>
          </a:xfrm>
          <a:prstGeom prst="rect">
            <a:avLst/>
          </a:prstGeom>
          <a:noFill/>
          <a:ln/>
        </p:spPr>
        <p:txBody>
          <a:bodyPr wrap="none" lIns="0" tIns="0" rIns="0" bIns="0" rtlCol="0" anchor="t"/>
          <a:lstStyle/>
          <a:p>
            <a:pPr marL="0" indent="0" algn="l">
              <a:lnSpc>
                <a:spcPts val="2600"/>
              </a:lnSpc>
              <a:buNone/>
            </a:pPr>
            <a:r>
              <a:rPr lang="en-US" sz="2100" dirty="0">
                <a:solidFill>
                  <a:srgbClr val="49495A"/>
                </a:solidFill>
                <a:latin typeface="+mj-ea"/>
                <a:ea typeface="+mj-ea"/>
                <a:cs typeface="Libre Baskerville" pitchFamily="34" charset="-120"/>
              </a:rPr>
              <a:t>高價衝擊明顯</a:t>
            </a:r>
            <a:endParaRPr lang="en-US" sz="2100" dirty="0">
              <a:latin typeface="+mj-ea"/>
              <a:ea typeface="+mj-ea"/>
            </a:endParaRPr>
          </a:p>
        </p:txBody>
      </p:sp>
      <p:sp>
        <p:nvSpPr>
          <p:cNvPr id="13" name="Text 10"/>
          <p:cNvSpPr/>
          <p:nvPr/>
        </p:nvSpPr>
        <p:spPr>
          <a:xfrm>
            <a:off x="10376416" y="2321916"/>
            <a:ext cx="3506510" cy="1025128"/>
          </a:xfrm>
          <a:prstGeom prst="rect">
            <a:avLst/>
          </a:prstGeom>
          <a:noFill/>
          <a:ln/>
        </p:spPr>
        <p:txBody>
          <a:bodyPr wrap="square" lIns="0" tIns="0" rIns="0" bIns="0" rtlCol="0" anchor="t"/>
          <a:lstStyle/>
          <a:p>
            <a:pPr marL="0" indent="0" algn="l">
              <a:lnSpc>
                <a:spcPts val="2650"/>
              </a:lnSpc>
              <a:buNone/>
            </a:pPr>
            <a:r>
              <a:rPr lang="en-US" sz="1650" dirty="0">
                <a:solidFill>
                  <a:srgbClr val="49495A"/>
                </a:solidFill>
                <a:latin typeface="+mj-ea"/>
                <a:ea typeface="+mj-ea"/>
                <a:cs typeface="Open Sans" pitchFamily="34" charset="-120"/>
              </a:rPr>
              <a:t>當價格進入「High」（高）區間，平均銷售額則大幅跌至 </a:t>
            </a:r>
            <a:r>
              <a:rPr lang="en-US" sz="1650" dirty="0">
                <a:solidFill>
                  <a:srgbClr val="403CCF"/>
                </a:solidFill>
                <a:latin typeface="+mj-ea"/>
                <a:ea typeface="+mj-ea"/>
                <a:cs typeface="Open Sans" pitchFamily="34" charset="-120"/>
              </a:rPr>
              <a:t>5.3 左右</a:t>
            </a:r>
            <a:r>
              <a:rPr lang="en-US" sz="1650" dirty="0">
                <a:solidFill>
                  <a:srgbClr val="49495A"/>
                </a:solidFill>
                <a:latin typeface="+mj-ea"/>
                <a:ea typeface="+mj-ea"/>
                <a:cs typeface="Open Sans" pitchFamily="34" charset="-120"/>
              </a:rPr>
              <a:t>，反映消費者對高價的抗拒性。</a:t>
            </a:r>
            <a:endParaRPr lang="en-US" sz="1650" dirty="0">
              <a:latin typeface="+mj-ea"/>
              <a:ea typeface="+mj-ea"/>
            </a:endParaRPr>
          </a:p>
        </p:txBody>
      </p:sp>
      <p:pic>
        <p:nvPicPr>
          <p:cNvPr id="19" name="圖片 18" descr="一張含有 文字, 螢幕擷取畫面, 圖表, Rectangle 的圖片&#10;&#10;AI 產生的內容可能不正確。">
            <a:extLst>
              <a:ext uri="{FF2B5EF4-FFF2-40B4-BE49-F238E27FC236}">
                <a16:creationId xmlns:a16="http://schemas.microsoft.com/office/drawing/2014/main" id="{37E27FF8-9CE0-C248-003E-0F311093AE68}"/>
              </a:ext>
            </a:extLst>
          </p:cNvPr>
          <p:cNvPicPr>
            <a:picLocks noChangeAspect="1"/>
          </p:cNvPicPr>
          <p:nvPr/>
        </p:nvPicPr>
        <p:blipFill>
          <a:blip r:embed="rId3"/>
          <a:srcRect l="49277"/>
          <a:stretch>
            <a:fillRect/>
          </a:stretch>
        </p:blipFill>
        <p:spPr>
          <a:xfrm>
            <a:off x="7153988" y="3688754"/>
            <a:ext cx="6160229" cy="4456185"/>
          </a:xfrm>
          <a:prstGeom prst="rect">
            <a:avLst/>
          </a:prstGeom>
        </p:spPr>
      </p:pic>
      <p:pic>
        <p:nvPicPr>
          <p:cNvPr id="21" name="圖片 20">
            <a:extLst>
              <a:ext uri="{FF2B5EF4-FFF2-40B4-BE49-F238E27FC236}">
                <a16:creationId xmlns:a16="http://schemas.microsoft.com/office/drawing/2014/main" id="{1C301EAD-F3EE-43B1-1611-29910461BED6}"/>
              </a:ext>
            </a:extLst>
          </p:cNvPr>
          <p:cNvPicPr>
            <a:picLocks noChangeAspect="1"/>
          </p:cNvPicPr>
          <p:nvPr/>
        </p:nvPicPr>
        <p:blipFill>
          <a:blip r:embed="rId4"/>
          <a:stretch>
            <a:fillRect/>
          </a:stretch>
        </p:blipFill>
        <p:spPr>
          <a:xfrm>
            <a:off x="512618" y="3688753"/>
            <a:ext cx="6641371" cy="4456185"/>
          </a:xfrm>
          <a:prstGeom prst="rect">
            <a:avLst/>
          </a:prstGeom>
        </p:spPr>
      </p:pic>
      <p:sp>
        <p:nvSpPr>
          <p:cNvPr id="2" name="文字方塊 1">
            <a:extLst>
              <a:ext uri="{FF2B5EF4-FFF2-40B4-BE49-F238E27FC236}">
                <a16:creationId xmlns:a16="http://schemas.microsoft.com/office/drawing/2014/main" id="{8D65B809-D3C7-4C62-1627-06F94C140D75}"/>
              </a:ext>
            </a:extLst>
          </p:cNvPr>
          <p:cNvSpPr txBox="1"/>
          <p:nvPr/>
        </p:nvSpPr>
        <p:spPr>
          <a:xfrm>
            <a:off x="13397345" y="7675418"/>
            <a:ext cx="958105" cy="369332"/>
          </a:xfrm>
          <a:prstGeom prst="rect">
            <a:avLst/>
          </a:prstGeom>
          <a:noFill/>
        </p:spPr>
        <p:txBody>
          <a:bodyPr wrap="square" rtlCol="0">
            <a:spAutoFit/>
          </a:bodyPr>
          <a:lstStyle/>
          <a:p>
            <a:r>
              <a:rPr lang="en-US" altLang="zh-TW" dirty="0"/>
              <a:t>2</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734145" y="421057"/>
            <a:ext cx="4361021" cy="545068"/>
          </a:xfrm>
          <a:prstGeom prst="rect">
            <a:avLst/>
          </a:prstGeom>
          <a:noFill/>
          <a:ln/>
        </p:spPr>
        <p:txBody>
          <a:bodyPr wrap="none" lIns="0" tIns="0" rIns="0" bIns="0" rtlCol="0" anchor="t"/>
          <a:lstStyle/>
          <a:p>
            <a:pPr marL="0" indent="0" algn="l">
              <a:lnSpc>
                <a:spcPts val="4250"/>
              </a:lnSpc>
              <a:buNone/>
            </a:pPr>
            <a:r>
              <a:rPr lang="en-US" sz="3400" dirty="0">
                <a:solidFill>
                  <a:srgbClr val="403CCF"/>
                </a:solidFill>
                <a:latin typeface="+mj-ea"/>
                <a:ea typeface="+mj-ea"/>
                <a:cs typeface="Libre Baskerville" pitchFamily="34" charset="-120"/>
              </a:rPr>
              <a:t>貨架位置：決定性因素</a:t>
            </a:r>
            <a:endParaRPr lang="en-US" sz="3400" dirty="0">
              <a:latin typeface="+mj-ea"/>
              <a:ea typeface="+mj-ea"/>
            </a:endParaRPr>
          </a:p>
        </p:txBody>
      </p:sp>
      <p:sp>
        <p:nvSpPr>
          <p:cNvPr id="4" name="Text 1"/>
          <p:cNvSpPr/>
          <p:nvPr/>
        </p:nvSpPr>
        <p:spPr>
          <a:xfrm>
            <a:off x="6734145" y="1035896"/>
            <a:ext cx="7923133" cy="872014"/>
          </a:xfrm>
          <a:prstGeom prst="rect">
            <a:avLst/>
          </a:prstGeom>
          <a:noFill/>
          <a:ln/>
        </p:spPr>
        <p:txBody>
          <a:bodyPr wrap="square" lIns="0" tIns="0" rIns="0" bIns="0" rtlCol="0" anchor="t"/>
          <a:lstStyle/>
          <a:p>
            <a:pPr marL="0" indent="0" algn="l">
              <a:lnSpc>
                <a:spcPts val="3400"/>
              </a:lnSpc>
              <a:buNone/>
            </a:pPr>
            <a:r>
              <a:rPr lang="en-US" sz="2700" dirty="0">
                <a:solidFill>
                  <a:srgbClr val="403CCF"/>
                </a:solidFill>
                <a:latin typeface="+mj-ea"/>
                <a:ea typeface="+mj-ea"/>
                <a:cs typeface="Libre Baskerville" pitchFamily="34" charset="-120"/>
              </a:rPr>
              <a:t>視覺焦點：Sales by Shelf Location 及 Average Sales by Shelf Location</a:t>
            </a:r>
            <a:endParaRPr lang="en-US" sz="2700" dirty="0">
              <a:latin typeface="+mj-ea"/>
              <a:ea typeface="+mj-ea"/>
            </a:endParaRPr>
          </a:p>
        </p:txBody>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24300" y="2160199"/>
            <a:ext cx="174427" cy="174427"/>
          </a:xfrm>
          <a:prstGeom prst="rect">
            <a:avLst/>
          </a:prstGeom>
        </p:spPr>
      </p:pic>
      <p:pic>
        <p:nvPicPr>
          <p:cNvPr id="6" name="Image 2" descr="preencoded.png"/>
          <p:cNvPicPr>
            <a:picLocks noChangeAspect="1"/>
          </p:cNvPicPr>
          <p:nvPr/>
        </p:nvPicPr>
        <p:blipFill>
          <a:blip r:embed="rId5"/>
          <a:stretch>
            <a:fillRect/>
          </a:stretch>
        </p:blipFill>
        <p:spPr>
          <a:xfrm>
            <a:off x="6624300" y="2359747"/>
            <a:ext cx="4583668" cy="22860"/>
          </a:xfrm>
          <a:prstGeom prst="rect">
            <a:avLst/>
          </a:prstGeom>
        </p:spPr>
      </p:pic>
      <p:sp>
        <p:nvSpPr>
          <p:cNvPr id="7" name="Text 2"/>
          <p:cNvSpPr/>
          <p:nvPr/>
        </p:nvSpPr>
        <p:spPr>
          <a:xfrm>
            <a:off x="6624300" y="2492621"/>
            <a:ext cx="2398038" cy="272415"/>
          </a:xfrm>
          <a:prstGeom prst="rect">
            <a:avLst/>
          </a:prstGeom>
          <a:noFill/>
          <a:ln/>
        </p:spPr>
        <p:txBody>
          <a:bodyPr wrap="none" lIns="0" tIns="0" rIns="0" bIns="0" rtlCol="0" anchor="t"/>
          <a:lstStyle/>
          <a:p>
            <a:pPr marL="0" indent="0" algn="l">
              <a:lnSpc>
                <a:spcPts val="2100"/>
              </a:lnSpc>
              <a:buNone/>
            </a:pPr>
            <a:r>
              <a:rPr lang="en-US" sz="1600" dirty="0">
                <a:solidFill>
                  <a:srgbClr val="49495A"/>
                </a:solidFill>
                <a:latin typeface="+mj-ea"/>
                <a:ea typeface="+mj-ea"/>
                <a:cs typeface="Libre Baskerville" pitchFamily="34" charset="-120"/>
              </a:rPr>
              <a:t>「好」位置創造卓越績效</a:t>
            </a:r>
            <a:endParaRPr lang="en-US" sz="1600" dirty="0">
              <a:latin typeface="+mj-ea"/>
              <a:ea typeface="+mj-ea"/>
            </a:endParaRPr>
          </a:p>
        </p:txBody>
      </p:sp>
      <p:sp>
        <p:nvSpPr>
          <p:cNvPr id="8" name="Text 3"/>
          <p:cNvSpPr/>
          <p:nvPr/>
        </p:nvSpPr>
        <p:spPr>
          <a:xfrm>
            <a:off x="6624300" y="2939463"/>
            <a:ext cx="4583668" cy="279083"/>
          </a:xfrm>
          <a:prstGeom prst="rect">
            <a:avLst/>
          </a:prstGeom>
          <a:noFill/>
          <a:ln/>
        </p:spPr>
        <p:txBody>
          <a:bodyPr wrap="none" lIns="0" tIns="0" rIns="0" bIns="0" rtlCol="0" anchor="t"/>
          <a:lstStyle/>
          <a:p>
            <a:pPr marL="0" indent="0" algn="l">
              <a:lnSpc>
                <a:spcPts val="2150"/>
              </a:lnSpc>
              <a:buNone/>
            </a:pPr>
            <a:r>
              <a:rPr lang="en-US" sz="1600" dirty="0">
                <a:solidFill>
                  <a:srgbClr val="49495A"/>
                </a:solidFill>
                <a:latin typeface="+mj-ea"/>
                <a:ea typeface="+mj-ea"/>
                <a:cs typeface="Open Sans" pitchFamily="34" charset="-120"/>
              </a:rPr>
              <a:t>貨架位置（ShelveLoc）是影響銷售額的最關鍵類別變數。</a:t>
            </a:r>
            <a:endParaRPr lang="en-US" sz="1600" dirty="0">
              <a:latin typeface="+mj-ea"/>
              <a:ea typeface="+mj-ea"/>
            </a:endParaRPr>
          </a:p>
        </p:txBody>
      </p:sp>
      <p:pic>
        <p:nvPicPr>
          <p:cNvPr id="9"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24300" y="3562874"/>
            <a:ext cx="174427" cy="174427"/>
          </a:xfrm>
          <a:prstGeom prst="rect">
            <a:avLst/>
          </a:prstGeom>
        </p:spPr>
      </p:pic>
      <p:pic>
        <p:nvPicPr>
          <p:cNvPr id="10" name="Image 4" descr="preencoded.png"/>
          <p:cNvPicPr>
            <a:picLocks noChangeAspect="1"/>
          </p:cNvPicPr>
          <p:nvPr/>
        </p:nvPicPr>
        <p:blipFill>
          <a:blip r:embed="rId5"/>
          <a:stretch>
            <a:fillRect/>
          </a:stretch>
        </p:blipFill>
        <p:spPr>
          <a:xfrm>
            <a:off x="6624300" y="3779806"/>
            <a:ext cx="4583668" cy="22860"/>
          </a:xfrm>
          <a:prstGeom prst="rect">
            <a:avLst/>
          </a:prstGeom>
        </p:spPr>
      </p:pic>
      <p:sp>
        <p:nvSpPr>
          <p:cNvPr id="11" name="Text 4"/>
          <p:cNvSpPr/>
          <p:nvPr/>
        </p:nvSpPr>
        <p:spPr>
          <a:xfrm>
            <a:off x="6624300" y="3930182"/>
            <a:ext cx="2180511" cy="272415"/>
          </a:xfrm>
          <a:prstGeom prst="rect">
            <a:avLst/>
          </a:prstGeom>
          <a:noFill/>
          <a:ln/>
        </p:spPr>
        <p:txBody>
          <a:bodyPr wrap="none" lIns="0" tIns="0" rIns="0" bIns="0" rtlCol="0" anchor="t"/>
          <a:lstStyle/>
          <a:p>
            <a:pPr marL="0" indent="0" algn="l">
              <a:lnSpc>
                <a:spcPts val="2100"/>
              </a:lnSpc>
              <a:buNone/>
            </a:pPr>
            <a:r>
              <a:rPr lang="en-US" sz="1600" dirty="0">
                <a:solidFill>
                  <a:srgbClr val="49495A"/>
                </a:solidFill>
                <a:latin typeface="+mj-ea"/>
                <a:ea typeface="+mj-ea"/>
                <a:cs typeface="Libre Baskerville" pitchFamily="34" charset="-120"/>
              </a:rPr>
              <a:t>績效差距巨大</a:t>
            </a:r>
            <a:endParaRPr lang="en-US" sz="1600" dirty="0">
              <a:latin typeface="+mj-ea"/>
              <a:ea typeface="+mj-ea"/>
            </a:endParaRPr>
          </a:p>
        </p:txBody>
      </p:sp>
      <p:sp>
        <p:nvSpPr>
          <p:cNvPr id="12" name="Text 5"/>
          <p:cNvSpPr/>
          <p:nvPr/>
        </p:nvSpPr>
        <p:spPr>
          <a:xfrm>
            <a:off x="6624300" y="4377023"/>
            <a:ext cx="4583668" cy="279083"/>
          </a:xfrm>
          <a:prstGeom prst="rect">
            <a:avLst/>
          </a:prstGeom>
          <a:noFill/>
          <a:ln/>
        </p:spPr>
        <p:txBody>
          <a:bodyPr wrap="none" lIns="0" tIns="0" rIns="0" bIns="0" rtlCol="0" anchor="t"/>
          <a:lstStyle/>
          <a:p>
            <a:pPr marL="0" indent="0" algn="l">
              <a:lnSpc>
                <a:spcPts val="2150"/>
              </a:lnSpc>
              <a:buNone/>
            </a:pPr>
            <a:r>
              <a:rPr lang="en-US" sz="1600" dirty="0">
                <a:solidFill>
                  <a:srgbClr val="49495A"/>
                </a:solidFill>
                <a:latin typeface="+mj-ea"/>
                <a:ea typeface="+mj-ea"/>
                <a:cs typeface="Open Sans" pitchFamily="34" charset="-120"/>
              </a:rPr>
              <a:t>「Good」（好）貨架位置的平均銷售額顯著超過</a:t>
            </a:r>
            <a:r>
              <a:rPr lang="en-US" sz="1600" dirty="0">
                <a:solidFill>
                  <a:srgbClr val="403CCF"/>
                </a:solidFill>
                <a:latin typeface="+mj-ea"/>
                <a:ea typeface="+mj-ea"/>
                <a:cs typeface="Open Sans" pitchFamily="34" charset="-120"/>
              </a:rPr>
              <a:t>10個單位</a:t>
            </a:r>
            <a:r>
              <a:rPr lang="en-US" sz="1600" dirty="0">
                <a:solidFill>
                  <a:srgbClr val="49495A"/>
                </a:solidFill>
                <a:latin typeface="+mj-ea"/>
                <a:ea typeface="+mj-ea"/>
                <a:cs typeface="Open Sans" pitchFamily="34" charset="-120"/>
              </a:rPr>
              <a:t>。</a:t>
            </a:r>
            <a:endParaRPr lang="en-US" sz="1600" dirty="0">
              <a:latin typeface="+mj-ea"/>
              <a:ea typeface="+mj-ea"/>
            </a:endParaRPr>
          </a:p>
        </p:txBody>
      </p:sp>
      <p:pic>
        <p:nvPicPr>
          <p:cNvPr id="13"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24300" y="4965549"/>
            <a:ext cx="174427" cy="174427"/>
          </a:xfrm>
          <a:prstGeom prst="rect">
            <a:avLst/>
          </a:prstGeom>
        </p:spPr>
      </p:pic>
      <p:pic>
        <p:nvPicPr>
          <p:cNvPr id="14" name="Image 6" descr="preencoded.png"/>
          <p:cNvPicPr>
            <a:picLocks noChangeAspect="1"/>
          </p:cNvPicPr>
          <p:nvPr/>
        </p:nvPicPr>
        <p:blipFill>
          <a:blip r:embed="rId5"/>
          <a:stretch>
            <a:fillRect/>
          </a:stretch>
        </p:blipFill>
        <p:spPr>
          <a:xfrm>
            <a:off x="6624300" y="5199983"/>
            <a:ext cx="4583668" cy="22860"/>
          </a:xfrm>
          <a:prstGeom prst="rect">
            <a:avLst/>
          </a:prstGeom>
        </p:spPr>
      </p:pic>
      <p:sp>
        <p:nvSpPr>
          <p:cNvPr id="15" name="Text 6"/>
          <p:cNvSpPr/>
          <p:nvPr/>
        </p:nvSpPr>
        <p:spPr>
          <a:xfrm>
            <a:off x="6624300" y="5367742"/>
            <a:ext cx="2180511" cy="272415"/>
          </a:xfrm>
          <a:prstGeom prst="rect">
            <a:avLst/>
          </a:prstGeom>
          <a:noFill/>
          <a:ln/>
        </p:spPr>
        <p:txBody>
          <a:bodyPr wrap="none" lIns="0" tIns="0" rIns="0" bIns="0" rtlCol="0" anchor="t"/>
          <a:lstStyle/>
          <a:p>
            <a:pPr marL="0" indent="0" algn="l">
              <a:lnSpc>
                <a:spcPts val="2100"/>
              </a:lnSpc>
              <a:buNone/>
            </a:pPr>
            <a:r>
              <a:rPr lang="en-US" sz="1600" dirty="0">
                <a:solidFill>
                  <a:srgbClr val="49495A"/>
                </a:solidFill>
                <a:latin typeface="+mj-ea"/>
                <a:ea typeface="+mj-ea"/>
                <a:cs typeface="Libre Baskerville" pitchFamily="34" charset="-120"/>
              </a:rPr>
              <a:t>需避免「差」位置</a:t>
            </a:r>
            <a:endParaRPr lang="en-US" sz="1600" dirty="0">
              <a:latin typeface="+mj-ea"/>
              <a:ea typeface="+mj-ea"/>
            </a:endParaRPr>
          </a:p>
        </p:txBody>
      </p:sp>
      <p:sp>
        <p:nvSpPr>
          <p:cNvPr id="16" name="Text 7"/>
          <p:cNvSpPr/>
          <p:nvPr/>
        </p:nvSpPr>
        <p:spPr>
          <a:xfrm>
            <a:off x="6624300" y="5814584"/>
            <a:ext cx="4583668" cy="279083"/>
          </a:xfrm>
          <a:prstGeom prst="rect">
            <a:avLst/>
          </a:prstGeom>
          <a:noFill/>
          <a:ln/>
        </p:spPr>
        <p:txBody>
          <a:bodyPr wrap="none" lIns="0" tIns="0" rIns="0" bIns="0" rtlCol="0" anchor="t"/>
          <a:lstStyle/>
          <a:p>
            <a:pPr marL="0" indent="0" algn="l">
              <a:lnSpc>
                <a:spcPts val="2150"/>
              </a:lnSpc>
              <a:buNone/>
            </a:pPr>
            <a:r>
              <a:rPr lang="en-US" sz="1600" dirty="0">
                <a:solidFill>
                  <a:srgbClr val="49495A"/>
                </a:solidFill>
                <a:latin typeface="+mj-ea"/>
                <a:ea typeface="+mj-ea"/>
                <a:cs typeface="Open Sans" pitchFamily="34" charset="-120"/>
              </a:rPr>
              <a:t>相較之下，「Bad」（差）位置的平均銷售額僅約 </a:t>
            </a:r>
            <a:r>
              <a:rPr lang="en-US" sz="1600" dirty="0">
                <a:solidFill>
                  <a:srgbClr val="403CCF"/>
                </a:solidFill>
                <a:latin typeface="+mj-ea"/>
                <a:ea typeface="+mj-ea"/>
                <a:cs typeface="Open Sans" pitchFamily="34" charset="-120"/>
              </a:rPr>
              <a:t>5.7</a:t>
            </a:r>
            <a:r>
              <a:rPr lang="en-US" sz="1600" dirty="0">
                <a:solidFill>
                  <a:srgbClr val="49495A"/>
                </a:solidFill>
                <a:latin typeface="+mj-ea"/>
                <a:ea typeface="+mj-ea"/>
                <a:cs typeface="Open Sans" pitchFamily="34" charset="-120"/>
              </a:rPr>
              <a:t>。</a:t>
            </a:r>
            <a:endParaRPr lang="en-US" sz="1600" dirty="0">
              <a:latin typeface="+mj-ea"/>
              <a:ea typeface="+mj-ea"/>
            </a:endParaRPr>
          </a:p>
        </p:txBody>
      </p:sp>
      <p:sp>
        <p:nvSpPr>
          <p:cNvPr id="17" name="Text 8"/>
          <p:cNvSpPr/>
          <p:nvPr/>
        </p:nvSpPr>
        <p:spPr>
          <a:xfrm>
            <a:off x="6394907" y="7193704"/>
            <a:ext cx="7923133" cy="558165"/>
          </a:xfrm>
          <a:prstGeom prst="rect">
            <a:avLst/>
          </a:prstGeom>
          <a:noFill/>
          <a:ln/>
        </p:spPr>
        <p:txBody>
          <a:bodyPr wrap="square" lIns="0" tIns="0" rIns="0" bIns="0" rtlCol="0" anchor="t"/>
          <a:lstStyle/>
          <a:p>
            <a:pPr marL="0" indent="0" algn="l">
              <a:lnSpc>
                <a:spcPts val="2150"/>
              </a:lnSpc>
              <a:buNone/>
            </a:pPr>
            <a:r>
              <a:rPr lang="en-US" sz="1600" b="1" u="sng" dirty="0">
                <a:solidFill>
                  <a:srgbClr val="49495A"/>
                </a:solidFill>
                <a:highlight>
                  <a:srgbClr val="FFFF00"/>
                </a:highlight>
                <a:latin typeface="+mj-ea"/>
                <a:ea typeface="+mj-ea"/>
                <a:cs typeface="Open Sans" pitchFamily="34" charset="-120"/>
              </a:rPr>
              <a:t>貨架位置的優劣直接決定了銷售額的中位數和分佈範圍。</a:t>
            </a:r>
            <a:endParaRPr lang="en-US" sz="1600" b="1" u="sng" dirty="0">
              <a:highlight>
                <a:srgbClr val="FFFF00"/>
              </a:highlight>
              <a:latin typeface="+mj-ea"/>
              <a:ea typeface="+mj-ea"/>
            </a:endParaRPr>
          </a:p>
        </p:txBody>
      </p:sp>
      <p:pic>
        <p:nvPicPr>
          <p:cNvPr id="19" name="圖片 18" descr="一張含有 螢幕擷取畫面, 圖表, 文字, Rectangle 的圖片&#10;&#10;AI 產生的內容可能不正確。">
            <a:extLst>
              <a:ext uri="{FF2B5EF4-FFF2-40B4-BE49-F238E27FC236}">
                <a16:creationId xmlns:a16="http://schemas.microsoft.com/office/drawing/2014/main" id="{1E5E048E-F805-7F87-3AF8-6F9EBDA72AF0}"/>
              </a:ext>
            </a:extLst>
          </p:cNvPr>
          <p:cNvPicPr>
            <a:picLocks noChangeAspect="1"/>
          </p:cNvPicPr>
          <p:nvPr/>
        </p:nvPicPr>
        <p:blipFill>
          <a:blip r:embed="rId10"/>
          <a:stretch>
            <a:fillRect/>
          </a:stretch>
        </p:blipFill>
        <p:spPr>
          <a:xfrm>
            <a:off x="0" y="4267796"/>
            <a:ext cx="6187462" cy="3938944"/>
          </a:xfrm>
          <a:prstGeom prst="rect">
            <a:avLst/>
          </a:prstGeom>
        </p:spPr>
      </p:pic>
      <p:pic>
        <p:nvPicPr>
          <p:cNvPr id="21" name="圖片 20">
            <a:extLst>
              <a:ext uri="{FF2B5EF4-FFF2-40B4-BE49-F238E27FC236}">
                <a16:creationId xmlns:a16="http://schemas.microsoft.com/office/drawing/2014/main" id="{51541249-B4F0-6C42-1F3E-FDADBCCCCA3A}"/>
              </a:ext>
            </a:extLst>
          </p:cNvPr>
          <p:cNvPicPr>
            <a:picLocks noChangeAspect="1"/>
          </p:cNvPicPr>
          <p:nvPr/>
        </p:nvPicPr>
        <p:blipFill>
          <a:blip r:embed="rId11"/>
          <a:stretch>
            <a:fillRect/>
          </a:stretch>
        </p:blipFill>
        <p:spPr>
          <a:xfrm>
            <a:off x="37869" y="0"/>
            <a:ext cx="6149593" cy="4267796"/>
          </a:xfrm>
          <a:prstGeom prst="rect">
            <a:avLst/>
          </a:prstGeom>
        </p:spPr>
      </p:pic>
      <p:sp>
        <p:nvSpPr>
          <p:cNvPr id="2" name="文字方塊 1">
            <a:extLst>
              <a:ext uri="{FF2B5EF4-FFF2-40B4-BE49-F238E27FC236}">
                <a16:creationId xmlns:a16="http://schemas.microsoft.com/office/drawing/2014/main" id="{EE3F13EA-300C-5330-8BAF-7EDBB5602EB1}"/>
              </a:ext>
            </a:extLst>
          </p:cNvPr>
          <p:cNvSpPr txBox="1"/>
          <p:nvPr/>
        </p:nvSpPr>
        <p:spPr>
          <a:xfrm>
            <a:off x="13397345" y="7675418"/>
            <a:ext cx="958105" cy="369332"/>
          </a:xfrm>
          <a:prstGeom prst="rect">
            <a:avLst/>
          </a:prstGeom>
          <a:noFill/>
        </p:spPr>
        <p:txBody>
          <a:bodyPr wrap="square" rtlCol="0">
            <a:spAutoFit/>
          </a:bodyPr>
          <a:lstStyle/>
          <a:p>
            <a:r>
              <a:rPr lang="en-US" altLang="zh-TW" dirty="0"/>
              <a:t>3</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9472" y="738545"/>
            <a:ext cx="3853815" cy="481727"/>
          </a:xfrm>
          <a:prstGeom prst="rect">
            <a:avLst/>
          </a:prstGeom>
          <a:noFill/>
          <a:ln/>
        </p:spPr>
        <p:txBody>
          <a:bodyPr wrap="none" lIns="0" tIns="0" rIns="0" bIns="0" rtlCol="0" anchor="t"/>
          <a:lstStyle/>
          <a:p>
            <a:pPr marL="0" indent="0" algn="l">
              <a:lnSpc>
                <a:spcPts val="3750"/>
              </a:lnSpc>
              <a:buNone/>
            </a:pPr>
            <a:r>
              <a:rPr lang="en-US" sz="3000" dirty="0">
                <a:solidFill>
                  <a:srgbClr val="403CCF"/>
                </a:solidFill>
                <a:latin typeface="+mj-ea"/>
                <a:ea typeface="+mj-ea"/>
                <a:cs typeface="Libre Baskerville" pitchFamily="34" charset="-120"/>
              </a:rPr>
              <a:t>廣告與收入的輕微影響</a:t>
            </a:r>
            <a:endParaRPr lang="en-US" sz="3000" dirty="0">
              <a:latin typeface="+mj-ea"/>
              <a:ea typeface="+mj-ea"/>
            </a:endParaRPr>
          </a:p>
        </p:txBody>
      </p:sp>
      <p:sp>
        <p:nvSpPr>
          <p:cNvPr id="3" name="Text 1"/>
          <p:cNvSpPr/>
          <p:nvPr/>
        </p:nvSpPr>
        <p:spPr>
          <a:xfrm>
            <a:off x="539472" y="1281827"/>
            <a:ext cx="12382619" cy="385286"/>
          </a:xfrm>
          <a:prstGeom prst="rect">
            <a:avLst/>
          </a:prstGeom>
          <a:noFill/>
          <a:ln/>
        </p:spPr>
        <p:txBody>
          <a:bodyPr wrap="none" lIns="0" tIns="0" rIns="0" bIns="0" rtlCol="0" anchor="t"/>
          <a:lstStyle/>
          <a:p>
            <a:pPr marL="0" indent="0" algn="l">
              <a:lnSpc>
                <a:spcPts val="3000"/>
              </a:lnSpc>
              <a:buNone/>
            </a:pPr>
            <a:r>
              <a:rPr lang="en-US" sz="2400" dirty="0">
                <a:solidFill>
                  <a:srgbClr val="403CCF"/>
                </a:solidFill>
                <a:latin typeface="+mj-ea"/>
                <a:ea typeface="+mj-ea"/>
                <a:cs typeface="Libre Baskerville" pitchFamily="34" charset="-120"/>
              </a:rPr>
              <a:t>視覺焦點：Average Sales by Advertising Level 及 Income vs Sales</a:t>
            </a:r>
            <a:endParaRPr lang="en-US" sz="2400" dirty="0">
              <a:latin typeface="+mj-ea"/>
              <a:ea typeface="+mj-ea"/>
            </a:endParaRPr>
          </a:p>
        </p:txBody>
      </p:sp>
      <p:sp>
        <p:nvSpPr>
          <p:cNvPr id="4" name="Shape 2"/>
          <p:cNvSpPr/>
          <p:nvPr/>
        </p:nvSpPr>
        <p:spPr>
          <a:xfrm>
            <a:off x="539472" y="1898333"/>
            <a:ext cx="4414361" cy="1427083"/>
          </a:xfrm>
          <a:prstGeom prst="roundRect">
            <a:avLst>
              <a:gd name="adj" fmla="val 1620"/>
            </a:avLst>
          </a:prstGeom>
          <a:solidFill>
            <a:srgbClr val="FBFAFF"/>
          </a:solidFill>
          <a:ln w="22860">
            <a:solidFill>
              <a:srgbClr val="D0CED9"/>
            </a:solidFill>
            <a:prstDash val="solid"/>
          </a:ln>
        </p:spPr>
        <p:txBody>
          <a:bodyPr/>
          <a:lstStyle/>
          <a:p>
            <a:endParaRPr lang="zh-TW" altLang="en-US">
              <a:latin typeface="+mj-ea"/>
              <a:ea typeface="+mj-ea"/>
            </a:endParaRPr>
          </a:p>
        </p:txBody>
      </p:sp>
      <p:sp>
        <p:nvSpPr>
          <p:cNvPr id="5" name="Text 3"/>
          <p:cNvSpPr/>
          <p:nvPr/>
        </p:nvSpPr>
        <p:spPr>
          <a:xfrm>
            <a:off x="716399" y="2075259"/>
            <a:ext cx="1926908" cy="240744"/>
          </a:xfrm>
          <a:prstGeom prst="rect">
            <a:avLst/>
          </a:prstGeom>
          <a:noFill/>
          <a:ln/>
        </p:spPr>
        <p:txBody>
          <a:bodyPr wrap="none" lIns="0" tIns="0" rIns="0" bIns="0" rtlCol="0" anchor="t"/>
          <a:lstStyle/>
          <a:p>
            <a:pPr marL="0" indent="0" algn="l">
              <a:lnSpc>
                <a:spcPts val="1850"/>
              </a:lnSpc>
              <a:buNone/>
            </a:pPr>
            <a:r>
              <a:rPr lang="en-US" sz="1500" dirty="0">
                <a:solidFill>
                  <a:srgbClr val="49495A"/>
                </a:solidFill>
                <a:latin typeface="+mj-ea"/>
                <a:ea typeface="+mj-ea"/>
                <a:cs typeface="Libre Baskerville" pitchFamily="34" charset="-120"/>
              </a:rPr>
              <a:t>廣告帶來微幅成長</a:t>
            </a:r>
            <a:endParaRPr lang="en-US" sz="1500" dirty="0">
              <a:latin typeface="+mj-ea"/>
              <a:ea typeface="+mj-ea"/>
            </a:endParaRPr>
          </a:p>
        </p:txBody>
      </p:sp>
      <p:sp>
        <p:nvSpPr>
          <p:cNvPr id="6" name="Text 4"/>
          <p:cNvSpPr/>
          <p:nvPr/>
        </p:nvSpPr>
        <p:spPr>
          <a:xfrm>
            <a:off x="716399" y="2408396"/>
            <a:ext cx="4060508" cy="740093"/>
          </a:xfrm>
          <a:prstGeom prst="rect">
            <a:avLst/>
          </a:prstGeom>
          <a:noFill/>
          <a:ln/>
        </p:spPr>
        <p:txBody>
          <a:bodyPr wrap="square" lIns="0" tIns="0" rIns="0" bIns="0" rtlCol="0" anchor="t"/>
          <a:lstStyle/>
          <a:p>
            <a:pPr>
              <a:lnSpc>
                <a:spcPts val="1900"/>
              </a:lnSpc>
            </a:pPr>
            <a:r>
              <a:rPr lang="en-US" sz="1200" dirty="0">
                <a:solidFill>
                  <a:srgbClr val="49495A"/>
                </a:solidFill>
                <a:latin typeface="+mj-ea"/>
                <a:ea typeface="+mj-ea"/>
                <a:cs typeface="Open Sans" pitchFamily="34" charset="-120"/>
              </a:rPr>
              <a:t>雖然廣告支出（Advertising）與銷售額的整體相關性極低（≈0.02），但分組分析顯示，處於「High Ads」（</a:t>
            </a:r>
            <a:r>
              <a:rPr lang="en-US" sz="1200" dirty="0" err="1">
                <a:solidFill>
                  <a:srgbClr val="49495A"/>
                </a:solidFill>
                <a:latin typeface="+mj-ea"/>
                <a:ea typeface="+mj-ea"/>
                <a:cs typeface="Open Sans" pitchFamily="34" charset="-120"/>
              </a:rPr>
              <a:t>高廣告）級別的平均銷售額最高</a:t>
            </a:r>
            <a:r>
              <a:rPr lang="en-US" sz="1200" dirty="0">
                <a:solidFill>
                  <a:srgbClr val="49495A"/>
                </a:solidFill>
                <a:latin typeface="+mj-ea"/>
                <a:ea typeface="+mj-ea"/>
                <a:cs typeface="Open Sans" pitchFamily="34" charset="-120"/>
              </a:rPr>
              <a:t>，</a:t>
            </a:r>
            <a:r>
              <a:rPr lang="zh-TW" altLang="en-US" sz="1200" b="1" dirty="0"/>
              <a:t>達到約 </a:t>
            </a:r>
            <a:r>
              <a:rPr lang="en-US" altLang="zh-TW" sz="1200" b="1" dirty="0"/>
              <a:t>8.7 </a:t>
            </a:r>
            <a:r>
              <a:rPr lang="zh-TW" altLang="en-US" sz="1200" b="1" dirty="0"/>
              <a:t>個單位</a:t>
            </a:r>
            <a:r>
              <a:rPr lang="en-US" sz="1200" dirty="0">
                <a:solidFill>
                  <a:srgbClr val="49495A"/>
                </a:solidFill>
                <a:latin typeface="+mj-ea"/>
                <a:ea typeface="+mj-ea"/>
                <a:cs typeface="Open Sans" pitchFamily="34" charset="-120"/>
              </a:rPr>
              <a:t>。</a:t>
            </a:r>
            <a:endParaRPr lang="en-US" sz="1200" dirty="0">
              <a:latin typeface="+mj-ea"/>
              <a:ea typeface="+mj-ea"/>
            </a:endParaRPr>
          </a:p>
        </p:txBody>
      </p:sp>
      <p:sp>
        <p:nvSpPr>
          <p:cNvPr id="7" name="Shape 5"/>
          <p:cNvSpPr/>
          <p:nvPr/>
        </p:nvSpPr>
        <p:spPr>
          <a:xfrm>
            <a:off x="5107900" y="1898333"/>
            <a:ext cx="4414480" cy="1427083"/>
          </a:xfrm>
          <a:prstGeom prst="roundRect">
            <a:avLst>
              <a:gd name="adj" fmla="val 1620"/>
            </a:avLst>
          </a:prstGeom>
          <a:solidFill>
            <a:srgbClr val="FBFAFF"/>
          </a:solidFill>
          <a:ln w="22860">
            <a:solidFill>
              <a:srgbClr val="D0CED9"/>
            </a:solidFill>
            <a:prstDash val="solid"/>
          </a:ln>
        </p:spPr>
        <p:txBody>
          <a:bodyPr/>
          <a:lstStyle/>
          <a:p>
            <a:endParaRPr lang="zh-TW" altLang="en-US">
              <a:latin typeface="+mj-ea"/>
              <a:ea typeface="+mj-ea"/>
            </a:endParaRPr>
          </a:p>
        </p:txBody>
      </p:sp>
      <p:sp>
        <p:nvSpPr>
          <p:cNvPr id="8" name="Text 6"/>
          <p:cNvSpPr/>
          <p:nvPr/>
        </p:nvSpPr>
        <p:spPr>
          <a:xfrm>
            <a:off x="5284827" y="2075259"/>
            <a:ext cx="1926908" cy="240744"/>
          </a:xfrm>
          <a:prstGeom prst="rect">
            <a:avLst/>
          </a:prstGeom>
          <a:noFill/>
          <a:ln/>
        </p:spPr>
        <p:txBody>
          <a:bodyPr wrap="none" lIns="0" tIns="0" rIns="0" bIns="0" rtlCol="0" anchor="t"/>
          <a:lstStyle/>
          <a:p>
            <a:pPr marL="0" indent="0" algn="l">
              <a:lnSpc>
                <a:spcPts val="1850"/>
              </a:lnSpc>
              <a:buNone/>
            </a:pPr>
            <a:r>
              <a:rPr lang="en-US" sz="1500" dirty="0">
                <a:solidFill>
                  <a:srgbClr val="49495A"/>
                </a:solidFill>
                <a:latin typeface="+mj-ea"/>
                <a:ea typeface="+mj-ea"/>
                <a:cs typeface="Libre Baskerville" pitchFamily="34" charset="-120"/>
              </a:rPr>
              <a:t>收入的弱支撐</a:t>
            </a:r>
            <a:endParaRPr lang="en-US" sz="1500" dirty="0">
              <a:latin typeface="+mj-ea"/>
              <a:ea typeface="+mj-ea"/>
            </a:endParaRPr>
          </a:p>
        </p:txBody>
      </p:sp>
      <p:sp>
        <p:nvSpPr>
          <p:cNvPr id="9" name="Text 7"/>
          <p:cNvSpPr/>
          <p:nvPr/>
        </p:nvSpPr>
        <p:spPr>
          <a:xfrm>
            <a:off x="5284827" y="2408396"/>
            <a:ext cx="4060627" cy="493395"/>
          </a:xfrm>
          <a:prstGeom prst="rect">
            <a:avLst/>
          </a:prstGeom>
          <a:noFill/>
          <a:ln/>
        </p:spPr>
        <p:txBody>
          <a:bodyPr wrap="square" lIns="0" tIns="0" rIns="0" bIns="0" rtlCol="0" anchor="t"/>
          <a:lstStyle/>
          <a:p>
            <a:pPr marL="0" indent="0" algn="l">
              <a:lnSpc>
                <a:spcPts val="1900"/>
              </a:lnSpc>
              <a:buNone/>
            </a:pPr>
            <a:r>
              <a:rPr lang="en-US" sz="1200" dirty="0">
                <a:solidFill>
                  <a:srgbClr val="49495A"/>
                </a:solidFill>
                <a:latin typeface="+mj-ea"/>
                <a:ea typeface="+mj-ea"/>
                <a:cs typeface="Open Sans" pitchFamily="34" charset="-120"/>
              </a:rPr>
              <a:t>收入（Income）與銷售額呈弱正相關（≈0.16）。在散點回歸圖上，可見收入越高，銷售額有輕微上升的趨勢。</a:t>
            </a:r>
            <a:endParaRPr lang="en-US" sz="1200" dirty="0">
              <a:latin typeface="+mj-ea"/>
              <a:ea typeface="+mj-ea"/>
            </a:endParaRPr>
          </a:p>
        </p:txBody>
      </p:sp>
      <p:sp>
        <p:nvSpPr>
          <p:cNvPr id="10" name="Shape 8"/>
          <p:cNvSpPr/>
          <p:nvPr/>
        </p:nvSpPr>
        <p:spPr>
          <a:xfrm>
            <a:off x="9676448" y="1898333"/>
            <a:ext cx="4414480" cy="1427083"/>
          </a:xfrm>
          <a:prstGeom prst="roundRect">
            <a:avLst>
              <a:gd name="adj" fmla="val 1620"/>
            </a:avLst>
          </a:prstGeom>
          <a:solidFill>
            <a:srgbClr val="FBFAFF"/>
          </a:solidFill>
          <a:ln w="22860">
            <a:solidFill>
              <a:srgbClr val="D0CED9"/>
            </a:solidFill>
            <a:prstDash val="solid"/>
          </a:ln>
        </p:spPr>
        <p:txBody>
          <a:bodyPr/>
          <a:lstStyle/>
          <a:p>
            <a:endParaRPr lang="zh-TW" altLang="en-US">
              <a:latin typeface="+mj-ea"/>
              <a:ea typeface="+mj-ea"/>
            </a:endParaRPr>
          </a:p>
        </p:txBody>
      </p:sp>
      <p:sp>
        <p:nvSpPr>
          <p:cNvPr id="11" name="Text 9"/>
          <p:cNvSpPr/>
          <p:nvPr/>
        </p:nvSpPr>
        <p:spPr>
          <a:xfrm>
            <a:off x="9853374" y="2075259"/>
            <a:ext cx="1926908" cy="240744"/>
          </a:xfrm>
          <a:prstGeom prst="rect">
            <a:avLst/>
          </a:prstGeom>
          <a:noFill/>
          <a:ln/>
        </p:spPr>
        <p:txBody>
          <a:bodyPr wrap="none" lIns="0" tIns="0" rIns="0" bIns="0" rtlCol="0" anchor="t"/>
          <a:lstStyle/>
          <a:p>
            <a:pPr marL="0" indent="0" algn="l">
              <a:lnSpc>
                <a:spcPts val="1850"/>
              </a:lnSpc>
              <a:buNone/>
            </a:pPr>
            <a:r>
              <a:rPr lang="en-US" sz="1500" dirty="0">
                <a:solidFill>
                  <a:srgbClr val="49495A"/>
                </a:solidFill>
                <a:latin typeface="+mj-ea"/>
                <a:ea typeface="+mj-ea"/>
                <a:cs typeface="Libre Baskerville" pitchFamily="34" charset="-120"/>
              </a:rPr>
              <a:t>年齡分組差異不大</a:t>
            </a:r>
            <a:endParaRPr lang="en-US" sz="1500" dirty="0">
              <a:latin typeface="+mj-ea"/>
              <a:ea typeface="+mj-ea"/>
            </a:endParaRPr>
          </a:p>
        </p:txBody>
      </p:sp>
      <p:sp>
        <p:nvSpPr>
          <p:cNvPr id="12" name="Text 10"/>
          <p:cNvSpPr/>
          <p:nvPr/>
        </p:nvSpPr>
        <p:spPr>
          <a:xfrm>
            <a:off x="9853374" y="2408396"/>
            <a:ext cx="4060627" cy="493395"/>
          </a:xfrm>
          <a:prstGeom prst="rect">
            <a:avLst/>
          </a:prstGeom>
          <a:noFill/>
          <a:ln/>
        </p:spPr>
        <p:txBody>
          <a:bodyPr wrap="square" lIns="0" tIns="0" rIns="0" bIns="0" rtlCol="0" anchor="t"/>
          <a:lstStyle/>
          <a:p>
            <a:pPr marL="0" indent="0" algn="l">
              <a:lnSpc>
                <a:spcPts val="1900"/>
              </a:lnSpc>
              <a:buNone/>
            </a:pPr>
            <a:r>
              <a:rPr lang="en-US" sz="1200" dirty="0">
                <a:solidFill>
                  <a:srgbClr val="49495A"/>
                </a:solidFill>
                <a:latin typeface="+mj-ea"/>
                <a:ea typeface="+mj-ea"/>
                <a:cs typeface="Open Sans" pitchFamily="34" charset="-120"/>
              </a:rPr>
              <a:t>「Average Sales by Age Group」圖顯示，不同年齡群組間的平均銷售額差異不大，但「Youth」（青年）組略微領先。</a:t>
            </a:r>
            <a:endParaRPr lang="en-US" sz="1200" dirty="0">
              <a:latin typeface="+mj-ea"/>
              <a:ea typeface="+mj-ea"/>
            </a:endParaRPr>
          </a:p>
        </p:txBody>
      </p:sp>
      <p:pic>
        <p:nvPicPr>
          <p:cNvPr id="25" name="圖片 24" descr="一張含有 文字, 圖表, 螢幕擷取畫面, 繪圖 的圖片&#10;&#10;AI 產生的內容可能不正確。">
            <a:extLst>
              <a:ext uri="{FF2B5EF4-FFF2-40B4-BE49-F238E27FC236}">
                <a16:creationId xmlns:a16="http://schemas.microsoft.com/office/drawing/2014/main" id="{1FC80D6D-81D4-A118-561F-9096E3AA73D4}"/>
              </a:ext>
            </a:extLst>
          </p:cNvPr>
          <p:cNvPicPr>
            <a:picLocks noChangeAspect="1"/>
          </p:cNvPicPr>
          <p:nvPr/>
        </p:nvPicPr>
        <p:blipFill>
          <a:blip r:embed="rId3"/>
          <a:srcRect l="50941"/>
          <a:stretch>
            <a:fillRect/>
          </a:stretch>
        </p:blipFill>
        <p:spPr>
          <a:xfrm>
            <a:off x="0" y="3773415"/>
            <a:ext cx="4414481" cy="4456185"/>
          </a:xfrm>
          <a:prstGeom prst="rect">
            <a:avLst/>
          </a:prstGeom>
        </p:spPr>
      </p:pic>
      <p:pic>
        <p:nvPicPr>
          <p:cNvPr id="27" name="圖片 26">
            <a:extLst>
              <a:ext uri="{FF2B5EF4-FFF2-40B4-BE49-F238E27FC236}">
                <a16:creationId xmlns:a16="http://schemas.microsoft.com/office/drawing/2014/main" id="{0C4AFE13-D5D1-71AA-52ED-62193C62A676}"/>
              </a:ext>
            </a:extLst>
          </p:cNvPr>
          <p:cNvPicPr>
            <a:picLocks noChangeAspect="1"/>
          </p:cNvPicPr>
          <p:nvPr/>
        </p:nvPicPr>
        <p:blipFill>
          <a:blip r:embed="rId4"/>
          <a:stretch>
            <a:fillRect/>
          </a:stretch>
        </p:blipFill>
        <p:spPr>
          <a:xfrm>
            <a:off x="4414481" y="3640088"/>
            <a:ext cx="5756663" cy="4456185"/>
          </a:xfrm>
          <a:prstGeom prst="rect">
            <a:avLst/>
          </a:prstGeom>
        </p:spPr>
      </p:pic>
      <p:pic>
        <p:nvPicPr>
          <p:cNvPr id="29" name="圖片 28">
            <a:extLst>
              <a:ext uri="{FF2B5EF4-FFF2-40B4-BE49-F238E27FC236}">
                <a16:creationId xmlns:a16="http://schemas.microsoft.com/office/drawing/2014/main" id="{82C7BC04-D04F-786C-15C5-A1129D52D103}"/>
              </a:ext>
            </a:extLst>
          </p:cNvPr>
          <p:cNvPicPr>
            <a:picLocks noChangeAspect="1"/>
          </p:cNvPicPr>
          <p:nvPr/>
        </p:nvPicPr>
        <p:blipFill>
          <a:blip r:embed="rId5"/>
          <a:srcRect r="5359" b="8151"/>
          <a:stretch>
            <a:fillRect/>
          </a:stretch>
        </p:blipFill>
        <p:spPr>
          <a:xfrm>
            <a:off x="10089870" y="3640088"/>
            <a:ext cx="4540530" cy="4456185"/>
          </a:xfrm>
          <a:prstGeom prst="rect">
            <a:avLst/>
          </a:prstGeom>
        </p:spPr>
      </p:pic>
      <p:sp>
        <p:nvSpPr>
          <p:cNvPr id="13" name="文字方塊 12">
            <a:extLst>
              <a:ext uri="{FF2B5EF4-FFF2-40B4-BE49-F238E27FC236}">
                <a16:creationId xmlns:a16="http://schemas.microsoft.com/office/drawing/2014/main" id="{19C77D1B-CBF3-5C61-6621-7F942D847194}"/>
              </a:ext>
            </a:extLst>
          </p:cNvPr>
          <p:cNvSpPr txBox="1"/>
          <p:nvPr/>
        </p:nvSpPr>
        <p:spPr>
          <a:xfrm>
            <a:off x="13397345" y="7675418"/>
            <a:ext cx="958105" cy="369332"/>
          </a:xfrm>
          <a:prstGeom prst="rect">
            <a:avLst/>
          </a:prstGeom>
          <a:noFill/>
        </p:spPr>
        <p:txBody>
          <a:bodyPr wrap="square" rtlCol="0">
            <a:spAutoFit/>
          </a:bodyPr>
          <a:lstStyle/>
          <a:p>
            <a:r>
              <a:rPr lang="en-US" altLang="zh-TW" dirty="0"/>
              <a:t>4</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11"/>
          <p:cNvSpPr/>
          <p:nvPr/>
        </p:nvSpPr>
        <p:spPr>
          <a:xfrm>
            <a:off x="705727" y="764164"/>
            <a:ext cx="5669875" cy="481727"/>
          </a:xfrm>
          <a:prstGeom prst="rect">
            <a:avLst/>
          </a:prstGeom>
          <a:noFill/>
          <a:ln/>
        </p:spPr>
        <p:txBody>
          <a:bodyPr wrap="none" lIns="0" tIns="0" rIns="0" bIns="0" rtlCol="0" anchor="t"/>
          <a:lstStyle/>
          <a:p>
            <a:pPr marL="0" indent="0" algn="l">
              <a:lnSpc>
                <a:spcPts val="3750"/>
              </a:lnSpc>
              <a:buNone/>
            </a:pPr>
            <a:r>
              <a:rPr lang="en-US" sz="3000" dirty="0">
                <a:solidFill>
                  <a:srgbClr val="403CCF"/>
                </a:solidFill>
                <a:latin typeface="+mj-ea"/>
                <a:ea typeface="+mj-ea"/>
                <a:cs typeface="Libre Baskerville" pitchFamily="34" charset="-120"/>
              </a:rPr>
              <a:t>核心建議 (Actionable Insights)</a:t>
            </a:r>
            <a:endParaRPr lang="en-US" sz="3000" dirty="0">
              <a:latin typeface="+mj-ea"/>
              <a:ea typeface="+mj-ea"/>
            </a:endParaRPr>
          </a:p>
        </p:txBody>
      </p:sp>
      <p:sp>
        <p:nvSpPr>
          <p:cNvPr id="14" name="Text 12"/>
          <p:cNvSpPr/>
          <p:nvPr/>
        </p:nvSpPr>
        <p:spPr>
          <a:xfrm>
            <a:off x="705727" y="1307446"/>
            <a:ext cx="4315658" cy="385286"/>
          </a:xfrm>
          <a:prstGeom prst="rect">
            <a:avLst/>
          </a:prstGeom>
          <a:noFill/>
          <a:ln/>
        </p:spPr>
        <p:txBody>
          <a:bodyPr wrap="none" lIns="0" tIns="0" rIns="0" bIns="0" rtlCol="0" anchor="t"/>
          <a:lstStyle/>
          <a:p>
            <a:pPr marL="0" indent="0" algn="l">
              <a:lnSpc>
                <a:spcPts val="3000"/>
              </a:lnSpc>
              <a:buNone/>
            </a:pPr>
            <a:r>
              <a:rPr lang="en-US" sz="2400" dirty="0">
                <a:solidFill>
                  <a:srgbClr val="403CCF"/>
                </a:solidFill>
                <a:latin typeface="+mj-ea"/>
                <a:ea typeface="+mj-ea"/>
                <a:cs typeface="Libre Baskerville" pitchFamily="34" charset="-120"/>
              </a:rPr>
              <a:t>行動導向：聚焦高影響力槓桿點</a:t>
            </a:r>
            <a:endParaRPr lang="en-US" sz="2400" dirty="0">
              <a:latin typeface="+mj-ea"/>
              <a:ea typeface="+mj-ea"/>
            </a:endParaRPr>
          </a:p>
        </p:txBody>
      </p:sp>
      <p:pic>
        <p:nvPicPr>
          <p:cNvPr id="15" name="Image 0" descr="preencoded.png"/>
          <p:cNvPicPr>
            <a:picLocks noChangeAspect="1"/>
          </p:cNvPicPr>
          <p:nvPr/>
        </p:nvPicPr>
        <p:blipFill>
          <a:blip r:embed="rId2"/>
          <a:stretch>
            <a:fillRect/>
          </a:stretch>
        </p:blipFill>
        <p:spPr>
          <a:xfrm>
            <a:off x="705727" y="2214930"/>
            <a:ext cx="770692" cy="924878"/>
          </a:xfrm>
          <a:prstGeom prst="rect">
            <a:avLst/>
          </a:prstGeom>
        </p:spPr>
      </p:pic>
      <p:sp>
        <p:nvSpPr>
          <p:cNvPr id="16" name="Text 13"/>
          <p:cNvSpPr/>
          <p:nvPr/>
        </p:nvSpPr>
        <p:spPr>
          <a:xfrm>
            <a:off x="1630486" y="2368997"/>
            <a:ext cx="1926908" cy="240744"/>
          </a:xfrm>
          <a:prstGeom prst="rect">
            <a:avLst/>
          </a:prstGeom>
          <a:noFill/>
          <a:ln/>
        </p:spPr>
        <p:txBody>
          <a:bodyPr wrap="none" lIns="0" tIns="0" rIns="0" bIns="0" rtlCol="0" anchor="t"/>
          <a:lstStyle/>
          <a:p>
            <a:pPr marL="0" indent="0" algn="l">
              <a:lnSpc>
                <a:spcPts val="1850"/>
              </a:lnSpc>
              <a:buNone/>
            </a:pPr>
            <a:r>
              <a:rPr lang="en-US" sz="1700" dirty="0">
                <a:solidFill>
                  <a:srgbClr val="49495A"/>
                </a:solidFill>
                <a:latin typeface="+mj-ea"/>
                <a:ea typeface="+mj-ea"/>
                <a:cs typeface="Libre Baskerville" pitchFamily="34" charset="-120"/>
              </a:rPr>
              <a:t>優先取得黃金貨架位</a:t>
            </a:r>
            <a:endParaRPr lang="en-US" sz="1700" dirty="0">
              <a:latin typeface="+mj-ea"/>
              <a:ea typeface="+mj-ea"/>
            </a:endParaRPr>
          </a:p>
        </p:txBody>
      </p:sp>
      <p:sp>
        <p:nvSpPr>
          <p:cNvPr id="17" name="Text 14"/>
          <p:cNvSpPr/>
          <p:nvPr/>
        </p:nvSpPr>
        <p:spPr>
          <a:xfrm>
            <a:off x="1630486" y="2702134"/>
            <a:ext cx="12626697" cy="246698"/>
          </a:xfrm>
          <a:prstGeom prst="rect">
            <a:avLst/>
          </a:prstGeom>
          <a:noFill/>
          <a:ln/>
        </p:spPr>
        <p:txBody>
          <a:bodyPr wrap="none" lIns="0" tIns="0" rIns="0" bIns="0" rtlCol="0" anchor="t"/>
          <a:lstStyle/>
          <a:p>
            <a:pPr marL="0" indent="0" algn="l">
              <a:lnSpc>
                <a:spcPts val="1900"/>
              </a:lnSpc>
              <a:buNone/>
            </a:pPr>
            <a:r>
              <a:rPr lang="en-US" sz="1700" dirty="0">
                <a:solidFill>
                  <a:srgbClr val="49495A"/>
                </a:solidFill>
                <a:latin typeface="+mj-ea"/>
                <a:ea typeface="+mj-ea"/>
                <a:cs typeface="Open Sans" pitchFamily="34" charset="-120"/>
              </a:rPr>
              <a:t>確保產品被放置在「Good」貨架位置，這是最直接且高效的銷售增長手段。</a:t>
            </a:r>
            <a:endParaRPr lang="en-US" sz="1700" dirty="0">
              <a:latin typeface="+mj-ea"/>
              <a:ea typeface="+mj-ea"/>
            </a:endParaRPr>
          </a:p>
        </p:txBody>
      </p:sp>
      <p:pic>
        <p:nvPicPr>
          <p:cNvPr id="18" name="Image 1" descr="preencoded.png"/>
          <p:cNvPicPr>
            <a:picLocks noChangeAspect="1"/>
          </p:cNvPicPr>
          <p:nvPr/>
        </p:nvPicPr>
        <p:blipFill>
          <a:blip r:embed="rId3"/>
          <a:stretch>
            <a:fillRect/>
          </a:stretch>
        </p:blipFill>
        <p:spPr>
          <a:xfrm>
            <a:off x="705727" y="4096345"/>
            <a:ext cx="770692" cy="924878"/>
          </a:xfrm>
          <a:prstGeom prst="rect">
            <a:avLst/>
          </a:prstGeom>
        </p:spPr>
      </p:pic>
      <p:sp>
        <p:nvSpPr>
          <p:cNvPr id="19" name="Text 15"/>
          <p:cNvSpPr/>
          <p:nvPr/>
        </p:nvSpPr>
        <p:spPr>
          <a:xfrm>
            <a:off x="1630486" y="4250412"/>
            <a:ext cx="1926908" cy="240744"/>
          </a:xfrm>
          <a:prstGeom prst="rect">
            <a:avLst/>
          </a:prstGeom>
          <a:noFill/>
          <a:ln/>
        </p:spPr>
        <p:txBody>
          <a:bodyPr wrap="none" lIns="0" tIns="0" rIns="0" bIns="0" rtlCol="0" anchor="t"/>
          <a:lstStyle/>
          <a:p>
            <a:pPr marL="0" indent="0" algn="l">
              <a:lnSpc>
                <a:spcPts val="1850"/>
              </a:lnSpc>
              <a:buNone/>
            </a:pPr>
            <a:r>
              <a:rPr lang="en-US" sz="1700" dirty="0">
                <a:solidFill>
                  <a:srgbClr val="49495A"/>
                </a:solidFill>
                <a:latin typeface="+mj-ea"/>
                <a:ea typeface="+mj-ea"/>
                <a:cs typeface="Libre Baskerville" pitchFamily="34" charset="-120"/>
              </a:rPr>
              <a:t>定價彈性管理</a:t>
            </a:r>
            <a:endParaRPr lang="en-US" sz="1700" dirty="0">
              <a:latin typeface="+mj-ea"/>
              <a:ea typeface="+mj-ea"/>
            </a:endParaRPr>
          </a:p>
        </p:txBody>
      </p:sp>
      <p:sp>
        <p:nvSpPr>
          <p:cNvPr id="20" name="Text 16"/>
          <p:cNvSpPr/>
          <p:nvPr/>
        </p:nvSpPr>
        <p:spPr>
          <a:xfrm>
            <a:off x="1630486" y="4583549"/>
            <a:ext cx="12626697" cy="246698"/>
          </a:xfrm>
          <a:prstGeom prst="rect">
            <a:avLst/>
          </a:prstGeom>
          <a:noFill/>
          <a:ln/>
        </p:spPr>
        <p:txBody>
          <a:bodyPr wrap="none" lIns="0" tIns="0" rIns="0" bIns="0" rtlCol="0" anchor="t"/>
          <a:lstStyle/>
          <a:p>
            <a:pPr marL="0" indent="0" algn="l">
              <a:lnSpc>
                <a:spcPts val="1900"/>
              </a:lnSpc>
              <a:buNone/>
            </a:pPr>
            <a:r>
              <a:rPr lang="en-US" sz="1700" dirty="0">
                <a:solidFill>
                  <a:srgbClr val="49495A"/>
                </a:solidFill>
                <a:latin typeface="+mj-ea"/>
                <a:ea typeface="+mj-ea"/>
                <a:cs typeface="Open Sans" pitchFamily="34" charset="-120"/>
              </a:rPr>
              <a:t>銷售額對價格極度敏感。應評估在不損害品牌價值的前提下，如何將價格保持在「Low」或「Lower-Mid」區間，以最大化交易量。</a:t>
            </a:r>
            <a:endParaRPr lang="en-US" sz="1700" dirty="0">
              <a:latin typeface="+mj-ea"/>
              <a:ea typeface="+mj-ea"/>
            </a:endParaRPr>
          </a:p>
        </p:txBody>
      </p:sp>
      <p:pic>
        <p:nvPicPr>
          <p:cNvPr id="21" name="Image 2" descr="preencoded.png"/>
          <p:cNvPicPr>
            <a:picLocks noChangeAspect="1"/>
          </p:cNvPicPr>
          <p:nvPr/>
        </p:nvPicPr>
        <p:blipFill>
          <a:blip r:embed="rId4"/>
          <a:stretch>
            <a:fillRect/>
          </a:stretch>
        </p:blipFill>
        <p:spPr>
          <a:xfrm>
            <a:off x="705727" y="6305648"/>
            <a:ext cx="770692" cy="924878"/>
          </a:xfrm>
          <a:prstGeom prst="rect">
            <a:avLst/>
          </a:prstGeom>
        </p:spPr>
      </p:pic>
      <p:sp>
        <p:nvSpPr>
          <p:cNvPr id="22" name="Text 17"/>
          <p:cNvSpPr/>
          <p:nvPr/>
        </p:nvSpPr>
        <p:spPr>
          <a:xfrm>
            <a:off x="1630486" y="6459715"/>
            <a:ext cx="1926908" cy="240744"/>
          </a:xfrm>
          <a:prstGeom prst="rect">
            <a:avLst/>
          </a:prstGeom>
          <a:noFill/>
          <a:ln/>
        </p:spPr>
        <p:txBody>
          <a:bodyPr wrap="none" lIns="0" tIns="0" rIns="0" bIns="0" rtlCol="0" anchor="t"/>
          <a:lstStyle/>
          <a:p>
            <a:pPr marL="0" indent="0" algn="l">
              <a:lnSpc>
                <a:spcPts val="1850"/>
              </a:lnSpc>
              <a:buNone/>
            </a:pPr>
            <a:r>
              <a:rPr lang="en-US" sz="1700" dirty="0">
                <a:solidFill>
                  <a:srgbClr val="49495A"/>
                </a:solidFill>
                <a:latin typeface="+mj-ea"/>
                <a:ea typeface="+mj-ea"/>
                <a:cs typeface="Libre Baskerville" pitchFamily="34" charset="-120"/>
              </a:rPr>
              <a:t>維持高廣告投入</a:t>
            </a:r>
            <a:endParaRPr lang="en-US" sz="1700" dirty="0">
              <a:latin typeface="+mj-ea"/>
              <a:ea typeface="+mj-ea"/>
            </a:endParaRPr>
          </a:p>
        </p:txBody>
      </p:sp>
      <p:sp>
        <p:nvSpPr>
          <p:cNvPr id="23" name="Text 18"/>
          <p:cNvSpPr/>
          <p:nvPr/>
        </p:nvSpPr>
        <p:spPr>
          <a:xfrm>
            <a:off x="1630486" y="6792852"/>
            <a:ext cx="12626697" cy="246698"/>
          </a:xfrm>
          <a:prstGeom prst="rect">
            <a:avLst/>
          </a:prstGeom>
          <a:noFill/>
          <a:ln/>
        </p:spPr>
        <p:txBody>
          <a:bodyPr wrap="none" lIns="0" tIns="0" rIns="0" bIns="0" rtlCol="0" anchor="t"/>
          <a:lstStyle/>
          <a:p>
            <a:pPr marL="0" indent="0" algn="l">
              <a:lnSpc>
                <a:spcPts val="1900"/>
              </a:lnSpc>
              <a:buNone/>
            </a:pPr>
            <a:r>
              <a:rPr lang="en-US" sz="1700" dirty="0">
                <a:solidFill>
                  <a:srgbClr val="49495A"/>
                </a:solidFill>
                <a:latin typeface="+mj-ea"/>
                <a:ea typeface="+mj-ea"/>
                <a:cs typeface="Open Sans" pitchFamily="34" charset="-120"/>
              </a:rPr>
              <a:t>雖然廣告的單獨效益不強，但數據顯示持續的高水平廣告投入能夠穩定推動平均銷售額達到最高點。</a:t>
            </a:r>
            <a:endParaRPr lang="en-US" sz="1700" dirty="0">
              <a:latin typeface="+mj-ea"/>
              <a:ea typeface="+mj-ea"/>
            </a:endParaRPr>
          </a:p>
        </p:txBody>
      </p:sp>
      <p:sp>
        <p:nvSpPr>
          <p:cNvPr id="2" name="文字方塊 1">
            <a:extLst>
              <a:ext uri="{FF2B5EF4-FFF2-40B4-BE49-F238E27FC236}">
                <a16:creationId xmlns:a16="http://schemas.microsoft.com/office/drawing/2014/main" id="{979C1667-7525-BA1C-D8EF-C28A904FC4C2}"/>
              </a:ext>
            </a:extLst>
          </p:cNvPr>
          <p:cNvSpPr txBox="1"/>
          <p:nvPr/>
        </p:nvSpPr>
        <p:spPr>
          <a:xfrm>
            <a:off x="13397345" y="7675418"/>
            <a:ext cx="958105" cy="369332"/>
          </a:xfrm>
          <a:prstGeom prst="rect">
            <a:avLst/>
          </a:prstGeom>
          <a:noFill/>
        </p:spPr>
        <p:txBody>
          <a:bodyPr wrap="square" rtlCol="0">
            <a:spAutoFit/>
          </a:bodyPr>
          <a:lstStyle/>
          <a:p>
            <a:r>
              <a:rPr lang="en-US" altLang="zh-TW" dirty="0"/>
              <a:t>5</a:t>
            </a:r>
            <a:endParaRPr lang="zh-TW" altLang="en-US" dirty="0"/>
          </a:p>
        </p:txBody>
      </p:sp>
    </p:spTree>
    <p:extLst>
      <p:ext uri="{BB962C8B-B14F-4D97-AF65-F5344CB8AC3E}">
        <p14:creationId xmlns:p14="http://schemas.microsoft.com/office/powerpoint/2010/main" val="1693932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271</Words>
  <Application>Microsoft Office PowerPoint</Application>
  <PresentationFormat>自訂</PresentationFormat>
  <Paragraphs>46</Paragraphs>
  <Slides>6</Slides>
  <Notes>5</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6</vt:i4>
      </vt:variant>
    </vt:vector>
  </HeadingPairs>
  <TitlesOfParts>
    <vt:vector size="9" baseType="lpstr">
      <vt:lpstr>Arial</vt:lpstr>
      <vt:lpstr>Aptos</vt:lpstr>
      <vt:lpstr>Office Theme</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劉玳如</dc:creator>
  <cp:lastModifiedBy>玳如 劉</cp:lastModifiedBy>
  <cp:revision>7</cp:revision>
  <dcterms:created xsi:type="dcterms:W3CDTF">2025-10-18T08:24:50Z</dcterms:created>
  <dcterms:modified xsi:type="dcterms:W3CDTF">2025-10-20T01:36:46Z</dcterms:modified>
</cp:coreProperties>
</file>